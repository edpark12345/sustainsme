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0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SUSTAINSME  ·  CARBON DECARBONIZATION PLATFORM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Emissions clarity, right-sized for every client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72768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9C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middle ground between lofty estimates and cumbersome client questionnaires.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575304" cy="566928"/>
          </a:xfrm>
          <a:prstGeom prst="roundRect">
            <a:avLst>
              <a:gd name="adj" fmla="val 16129"/>
            </a:avLst>
          </a:prstGeom>
          <a:solidFill>
            <a:srgbClr val="3B0E7A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2660904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58368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15568" y="2560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Mid-Corporates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06824" y="2560320"/>
            <a:ext cx="3575304" cy="566928"/>
          </a:xfrm>
          <a:prstGeom prst="roundRect">
            <a:avLst>
              <a:gd name="adj" fmla="val 16129"/>
            </a:avLst>
          </a:prstGeom>
          <a:solidFill>
            <a:srgbClr val="3B0E7A"/>
          </a:solidFill>
          <a:ln/>
        </p:spPr>
      </p:sp>
      <p:sp>
        <p:nvSpPr>
          <p:cNvPr id="11" name="Shape 9"/>
          <p:cNvSpPr/>
          <p:nvPr/>
        </p:nvSpPr>
        <p:spPr>
          <a:xfrm>
            <a:off x="4416552" y="2660904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416552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73752" y="2560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65008" y="2560320"/>
            <a:ext cx="3575304" cy="566928"/>
          </a:xfrm>
          <a:prstGeom prst="roundRect">
            <a:avLst>
              <a:gd name="adj" fmla="val 16129"/>
            </a:avLst>
          </a:prstGeom>
          <a:solidFill>
            <a:srgbClr val="3B0E7A"/>
          </a:solidFill>
          <a:ln/>
        </p:spPr>
      </p:sp>
      <p:sp>
        <p:nvSpPr>
          <p:cNvPr id="15" name="Shape 13"/>
          <p:cNvSpPr/>
          <p:nvPr/>
        </p:nvSpPr>
        <p:spPr>
          <a:xfrm>
            <a:off x="8174736" y="2660904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174736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631936" y="2560320"/>
            <a:ext cx="2916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businesses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3649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B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CAPABILITIES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758184"/>
            <a:ext cx="502920" cy="50292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20" name="Shape 18"/>
          <p:cNvSpPr/>
          <p:nvPr/>
        </p:nvSpPr>
        <p:spPr>
          <a:xfrm>
            <a:off x="669341" y="3878885"/>
            <a:ext cx="261518" cy="261518"/>
          </a:xfrm>
          <a:prstGeom prst="wedgeRoundRectCallou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234440" y="37033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Guided, plain-language entry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4059936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jargon, no rigid form — questions adapt to what the client already knows.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77356" y="3758184"/>
            <a:ext cx="502920" cy="50292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24" name="Shape 22"/>
          <p:cNvSpPr/>
          <p:nvPr/>
        </p:nvSpPr>
        <p:spPr>
          <a:xfrm>
            <a:off x="6398057" y="3878885"/>
            <a:ext cx="261518" cy="261518"/>
          </a:xfrm>
          <a:prstGeom prst="flowChartDocumen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963156" y="370332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bill, we read it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963156" y="4059936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PDFs, scans or photos — a local AI extracts the data. No API keys, nothing leaves the machine.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8640" y="5175504"/>
            <a:ext cx="502920" cy="50292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28" name="Shape 26"/>
          <p:cNvSpPr/>
          <p:nvPr/>
        </p:nvSpPr>
        <p:spPr>
          <a:xfrm>
            <a:off x="669341" y="5296205"/>
            <a:ext cx="261518" cy="261518"/>
          </a:xfrm>
          <a:prstGeom prst="donu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1234440" y="512064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Scope 1, 2 &amp; 3 coverage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234440" y="5477256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GHG Protocol category screened; each figure cites its factor and data-quality tier.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77356" y="5175504"/>
            <a:ext cx="502920" cy="50292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32" name="Shape 30"/>
          <p:cNvSpPr/>
          <p:nvPr/>
        </p:nvSpPr>
        <p:spPr>
          <a:xfrm>
            <a:off x="6398057" y="5296205"/>
            <a:ext cx="261518" cy="261518"/>
          </a:xfrm>
          <a:prstGeom prst="lightningBol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63156" y="5120640"/>
            <a:ext cx="46314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Priorities, not just a number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963156" y="5477256"/>
            <a:ext cx="46314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9B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ESG score (0-100) plus 6+ ranked decarbonization levers the client can act 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works: input, deterministic engine, output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3331464" cy="4251960"/>
          </a:xfrm>
          <a:prstGeom prst="roundRect">
            <a:avLst>
              <a:gd name="adj" fmla="val 3843"/>
            </a:avLst>
          </a:prstGeom>
          <a:solidFill>
            <a:srgbClr val="EDE7FB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428744" y="1325880"/>
            <a:ext cx="3331464" cy="4251960"/>
          </a:xfrm>
          <a:prstGeom prst="roundRect">
            <a:avLst>
              <a:gd name="adj" fmla="val 3843"/>
            </a:avLst>
          </a:prstGeom>
          <a:solidFill>
            <a:srgbClr val="5B21B6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308848" y="1325880"/>
            <a:ext cx="3331464" cy="4251960"/>
          </a:xfrm>
          <a:prstGeom prst="roundRect">
            <a:avLst>
              <a:gd name="adj" fmla="val 3843"/>
            </a:avLst>
          </a:prstGeom>
          <a:solidFill>
            <a:srgbClr val="EDE7FB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80104" y="3086100"/>
            <a:ext cx="548640" cy="731520"/>
          </a:xfrm>
          <a:prstGeom prst="chevron">
            <a:avLst/>
          </a:prstGeom>
          <a:solidFill>
            <a:srgbClr val="00B37E"/>
          </a:solidFill>
          <a:ln/>
        </p:spPr>
      </p:sp>
      <p:sp>
        <p:nvSpPr>
          <p:cNvPr id="7" name="Shape 5"/>
          <p:cNvSpPr/>
          <p:nvPr/>
        </p:nvSpPr>
        <p:spPr>
          <a:xfrm>
            <a:off x="7760208" y="3086100"/>
            <a:ext cx="548640" cy="731520"/>
          </a:xfrm>
          <a:prstGeom prst="chevron">
            <a:avLst/>
          </a:prstGeom>
          <a:solidFill>
            <a:srgbClr val="00B37E"/>
          </a:solidFill>
          <a:ln/>
        </p:spPr>
      </p:sp>
      <p:sp>
        <p:nvSpPr>
          <p:cNvPr id="8" name="Shape 6"/>
          <p:cNvSpPr/>
          <p:nvPr/>
        </p:nvSpPr>
        <p:spPr>
          <a:xfrm>
            <a:off x="1940052" y="1618488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9" name="Shape 7"/>
          <p:cNvSpPr/>
          <p:nvPr/>
        </p:nvSpPr>
        <p:spPr>
          <a:xfrm>
            <a:off x="2071726" y="1750162"/>
            <a:ext cx="285293" cy="285293"/>
          </a:xfrm>
          <a:prstGeom prst="flowChartDocumen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377440"/>
            <a:ext cx="274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841248" y="2926080"/>
            <a:ext cx="2746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Q&amp;A answers, in plain language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bills &amp; invoices (PDF, scan, photo)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profile - sector/NACE, headcount, sites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820156" y="1618488"/>
            <a:ext cx="548640" cy="54864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13" name="Shape 11"/>
          <p:cNvSpPr/>
          <p:nvPr/>
        </p:nvSpPr>
        <p:spPr>
          <a:xfrm>
            <a:off x="5940857" y="1739189"/>
            <a:ext cx="307238" cy="307238"/>
          </a:xfrm>
          <a:prstGeom prst="gear9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21352" y="2377440"/>
            <a:ext cx="274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4721352" y="2926080"/>
            <a:ext cx="2746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LLM only extracts &amp; maps - never calculates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computes every figure vs. a cited factor library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tagged Primary / Spend-based / Estimated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700260" y="1618488"/>
            <a:ext cx="548640" cy="548640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17" name="Shape 15"/>
          <p:cNvSpPr/>
          <p:nvPr/>
        </p:nvSpPr>
        <p:spPr>
          <a:xfrm>
            <a:off x="9820961" y="1859890"/>
            <a:ext cx="76810" cy="15361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9941662" y="1772107"/>
            <a:ext cx="76810" cy="2414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10062362" y="1815998"/>
            <a:ext cx="76810" cy="19751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01456" y="2377440"/>
            <a:ext cx="2746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601456" y="2926080"/>
            <a:ext cx="274624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1+2+3 dashboard (tCO2e) + ESG score (0-100)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Prioritized decarbonization levers (6+)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Factor-cited Excel workbook + board-ready PDF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742432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Screening-grade and fully transparent - not a substitute for formal GHG assurance.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5B21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SustainSME: one platform, right-sized for every ING client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41248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middle ground between lofty estimates and cumbersome client questionnaires - for Mid-Corporates, SMEs and Micro businesses.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08676" cy="2308860"/>
          </a:xfrm>
          <a:prstGeom prst="roundRect">
            <a:avLst>
              <a:gd name="adj" fmla="val 4752"/>
            </a:avLst>
          </a:prstGeom>
          <a:solidFill>
            <a:srgbClr val="EDE7FB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31636" y="1417320"/>
            <a:ext cx="5408676" cy="2308860"/>
          </a:xfrm>
          <a:prstGeom prst="roundRect">
            <a:avLst>
              <a:gd name="adj" fmla="val 4752"/>
            </a:avLst>
          </a:prstGeom>
          <a:solidFill>
            <a:srgbClr val="EDE7FB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4000500"/>
            <a:ext cx="5408676" cy="2308860"/>
          </a:xfrm>
          <a:prstGeom prst="roundRect">
            <a:avLst>
              <a:gd name="adj" fmla="val 4752"/>
            </a:avLst>
          </a:prstGeom>
          <a:solidFill>
            <a:srgbClr val="EDE7FB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31636" y="4000500"/>
            <a:ext cx="5408676" cy="2308860"/>
          </a:xfrm>
          <a:prstGeom prst="roundRect">
            <a:avLst>
              <a:gd name="adj" fmla="val 4752"/>
            </a:avLst>
          </a:prstGeom>
          <a:solidFill>
            <a:srgbClr val="EDE7FB"/>
          </a:solidFill>
          <a:ln/>
          <a:effectLst>
            <a:outerShdw sx="100000" sy="100000" kx="0" ky="0" algn="bl" rotWithShape="0" blurRad="76200" dist="25400" dir="5400000">
              <a:srgbClr val="1C1530">
                <a:alpha val="1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04672" y="1563624"/>
            <a:ext cx="4896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4672" y="1947672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04672" y="1947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1920240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Mid-Corporates  </a:t>
            </a:r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larger, more complex operations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4672" y="2514600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04672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2487168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 </a:t>
            </a:r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established but resource-constrained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04672" y="3081528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04672" y="30815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298448" y="3054096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 businesses  </a:t>
            </a:r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little to no emissions data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487668" y="1563624"/>
            <a:ext cx="4896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87668" y="1929384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87668" y="1929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908292" y="1883664"/>
            <a:ext cx="44942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entry + document upload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87668" y="2350008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487668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08292" y="2304288"/>
            <a:ext cx="44942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 extracts, Python calculates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87668" y="2770632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87668" y="27706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908292" y="2724912"/>
            <a:ext cx="44942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1+2+3 emissions + ESG score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87668" y="3191256"/>
            <a:ext cx="310896" cy="310896"/>
          </a:xfrm>
          <a:prstGeom prst="ellipse">
            <a:avLst/>
          </a:prstGeom>
          <a:solidFill>
            <a:srgbClr val="5B21B6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487668" y="31912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6908292" y="3145536"/>
            <a:ext cx="44942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decarbonization levers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04672" y="4146804"/>
            <a:ext cx="4896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VIEWS, ONE PLATFORM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804672" y="4530852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804672" y="45308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34" name="Text 32"/>
          <p:cNvSpPr txBox="1"/>
          <p:nvPr/>
        </p:nvSpPr>
        <p:spPr>
          <a:xfrm>
            <a:off x="1298448" y="4503420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 </a:t>
            </a:r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guided self-assessment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04672" y="5097780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04672" y="50977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298448" y="5070348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 </a:t>
            </a:r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portfolio-wide ESG view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804672" y="5664708"/>
            <a:ext cx="365760" cy="365760"/>
          </a:xfrm>
          <a:prstGeom prst="ellipse">
            <a:avLst/>
          </a:prstGeom>
          <a:solidFill>
            <a:srgbClr val="00B37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804672" y="56647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298448" y="5637276"/>
            <a:ext cx="44028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Mgr  </a:t>
            </a:r>
            <a:pPr indent="0" marL="0">
              <a:buNone/>
            </a:pPr>
            <a:r>
              <a:rPr lang="en-US" sz="11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drill-down + matched finance products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6487668" y="4146804"/>
            <a:ext cx="48966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OUTPUTS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487668" y="4549140"/>
            <a:ext cx="23797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6487668" y="4969764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Scopes covered</a:t>
            </a:r>
            <a:endParaRPr lang="en-US" sz="950" dirty="0"/>
          </a:p>
        </p:txBody>
      </p:sp>
      <p:sp>
        <p:nvSpPr>
          <p:cNvPr id="44" name="Text 42"/>
          <p:cNvSpPr txBox="1"/>
          <p:nvPr/>
        </p:nvSpPr>
        <p:spPr>
          <a:xfrm>
            <a:off x="9004554" y="4549140"/>
            <a:ext cx="23797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400" dirty="0"/>
          </a:p>
        </p:txBody>
      </p:sp>
      <p:sp>
        <p:nvSpPr>
          <p:cNvPr id="45" name="Text 43"/>
          <p:cNvSpPr txBox="1"/>
          <p:nvPr/>
        </p:nvSpPr>
        <p:spPr>
          <a:xfrm>
            <a:off x="9004554" y="4969764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3 categories screened</a:t>
            </a:r>
            <a:endParaRPr lang="en-US" sz="950" dirty="0"/>
          </a:p>
        </p:txBody>
      </p:sp>
      <p:sp>
        <p:nvSpPr>
          <p:cNvPr id="46" name="Text 44"/>
          <p:cNvSpPr txBox="1"/>
          <p:nvPr/>
        </p:nvSpPr>
        <p:spPr>
          <a:xfrm>
            <a:off x="6487668" y="5417820"/>
            <a:ext cx="23797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0-100</a:t>
            </a:r>
            <a:endParaRPr lang="en-US" sz="2400" dirty="0"/>
          </a:p>
        </p:txBody>
      </p:sp>
      <p:sp>
        <p:nvSpPr>
          <p:cNvPr id="47" name="Text 45"/>
          <p:cNvSpPr txBox="1"/>
          <p:nvPr/>
        </p:nvSpPr>
        <p:spPr>
          <a:xfrm>
            <a:off x="6487668" y="5838444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 score</a:t>
            </a:r>
            <a:endParaRPr lang="en-US" sz="950" dirty="0"/>
          </a:p>
        </p:txBody>
      </p:sp>
      <p:sp>
        <p:nvSpPr>
          <p:cNvPr id="48" name="Text 46"/>
          <p:cNvSpPr txBox="1"/>
          <p:nvPr/>
        </p:nvSpPr>
        <p:spPr>
          <a:xfrm>
            <a:off x="9004554" y="5417820"/>
            <a:ext cx="237972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6+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9004554" y="5838444"/>
            <a:ext cx="237972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B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Decarb levers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360CF03634DBB4AA52B9D0B1FD736A6" ma:contentTypeVersion="9" ma:contentTypeDescription="Create a new document." ma:contentTypeScope="" ma:versionID="8c044d00b5d2acb8cbbb7a1df74e678e">
  <xsd:schema xmlns:xsd="http://www.w3.org/2001/XMLSchema" xmlns:xs="http://www.w3.org/2001/XMLSchema" xmlns:p="http://schemas.microsoft.com/office/2006/metadata/properties" xmlns:ns2="725527a3-61b3-4b50-b4d7-4e9c7efbfc08" targetNamespace="http://schemas.microsoft.com/office/2006/metadata/properties" ma:root="true" ma:fieldsID="c533cd8636ebca78e8c789883da43214" ns2:_="">
    <xsd:import namespace="725527a3-61b3-4b50-b4d7-4e9c7efbfc0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GenerationTime" minOccurs="0"/>
                <xsd:element ref="ns2:MediaServiceEventHashCode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5527a3-61b3-4b50-b4d7-4e9c7efbfc0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displayName="Image Tags_0" ma:hidden="true" ma:internalName="lcf76f155ced4ddcb4097134ff3c332f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5527a3-61b3-4b50-b4d7-4e9c7efbfc08" xsi:nil="true"/>
  </documentManagement>
</p:properties>
</file>

<file path=customXml/itemProps1.xml><?xml version="1.0" encoding="utf-8"?>
<ds:datastoreItem xmlns:ds="http://schemas.openxmlformats.org/officeDocument/2006/customXml" ds:itemID="{7FB99E65-8C1B-4337-942C-ACCB292C2554}"/>
</file>

<file path=customXml/itemProps2.xml><?xml version="1.0" encoding="utf-8"?>
<ds:datastoreItem xmlns:ds="http://schemas.openxmlformats.org/officeDocument/2006/customXml" ds:itemID="{1DA4F6A1-3375-4794-839B-ED55FAC89DBD}"/>
</file>

<file path=customXml/itemProps3.xml><?xml version="1.0" encoding="utf-8"?>
<ds:datastoreItem xmlns:ds="http://schemas.openxmlformats.org/officeDocument/2006/customXml" ds:itemID="{2772D50C-8DAC-4524-9014-698EA44368E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2026-09-15T17:16:19Z</dcterms:created>
  <dcterms:modified xsi:type="dcterms:W3CDTF">2026-09-15T17:16:19Z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0x0101008360CF03634DBB4AA52B9D0B1FD736A6</vt:lpwstr>
  </property>
</Properties>
</file>