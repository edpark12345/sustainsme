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00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 are asked to report emissions they can't easily measure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2395728"/>
            <a:ext cx="603504" cy="603504"/>
          </a:xfrm>
          <a:prstGeom prst="ellipse">
            <a:avLst/>
          </a:prstGeom>
          <a:solidFill>
            <a:srgbClr val="5E2790"/>
          </a:solidFill>
          <a:ln w="12700">
            <a:solidFill>
              <a:srgbClr val="C9A6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55117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2359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know-how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27066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accounting expertise sits outside most small companies.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3328416"/>
            <a:ext cx="603504" cy="603504"/>
          </a:xfrm>
          <a:prstGeom prst="ellipse">
            <a:avLst/>
          </a:prstGeom>
          <a:solidFill>
            <a:srgbClr val="5E2790"/>
          </a:solidFill>
          <a:ln w="12700">
            <a:solidFill>
              <a:srgbClr val="C9A6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838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1328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or resource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481328" y="36393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rarely a dedicated person to run a carbon inventory.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" y="4261104"/>
            <a:ext cx="603504" cy="603504"/>
          </a:xfrm>
          <a:prstGeom prst="ellipse">
            <a:avLst/>
          </a:prstGeom>
          <a:solidFill>
            <a:srgbClr val="5E2790"/>
          </a:solidFill>
          <a:ln w="12700">
            <a:solidFill>
              <a:srgbClr val="C9A6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1655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scattered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4572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live in bills, fuel logs and ledgers — not a system.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800" y="5193792"/>
            <a:ext cx="603504" cy="603504"/>
          </a:xfrm>
          <a:prstGeom prst="ellipse">
            <a:avLst/>
          </a:prstGeom>
          <a:solidFill>
            <a:srgbClr val="5E2790"/>
          </a:solidFill>
          <a:ln w="12700">
            <a:solidFill>
              <a:srgbClr val="C9A6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4924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81328" y="5157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pressure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481328" y="55046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large customers and regulators now expect a footprint.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720840" y="868680"/>
            <a:ext cx="4983480" cy="5257800"/>
          </a:xfrm>
          <a:prstGeom prst="roundRect">
            <a:avLst>
              <a:gd name="adj" fmla="val 2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0033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755380" y="1216152"/>
            <a:ext cx="914400" cy="914400"/>
          </a:xfrm>
          <a:prstGeom prst="ellipse">
            <a:avLst/>
          </a:prstGeom>
          <a:solidFill>
            <a:srgbClr val="460073"/>
          </a:solidFill>
          <a:ln w="15875">
            <a:solidFill>
              <a:srgbClr val="A100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60" y="137160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03720" y="2240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903720" y="25146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60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SMEScope</a:t>
            </a:r>
            <a:endParaRPr lang="en-US" sz="2700" dirty="0"/>
          </a:p>
        </p:txBody>
      </p:sp>
      <p:sp>
        <p:nvSpPr>
          <p:cNvPr id="25" name="Text 18"/>
          <p:cNvSpPr txBox="1"/>
          <p:nvPr/>
        </p:nvSpPr>
        <p:spPr>
          <a:xfrm>
            <a:off x="7132320" y="31089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tool that turns the documents an SME already has into a screening-grade Scope 1, 2 &amp; 3 carbon footprint.</a:t>
            </a:r>
            <a:endParaRPr lang="en-US" sz="12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413308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43800" y="40690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bills &amp; ledgers you already have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4654296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543800" y="45902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questionnaire — no carbon know-how needed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517550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543800" y="51114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traceable results, ready for review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6903720" y="57424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demo-ready.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SMEScope DOES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60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an SME needs to measure and own its footprint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SMEScope turns the documents an SME already has — energy bills, fuel logs, spend ledgers — into a screening-grade Scope 1, 2 and 3 carbon footprint. A guided questionnaire asks every question in plain language, an LLM reads the uploads, and a deterministic engine does the maths — so each number stays transparent and traceable.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81728" y="2514600"/>
            <a:ext cx="2743200" cy="2743200"/>
          </a:xfrm>
          <a:prstGeom prst="ellipse">
            <a:avLst/>
          </a:prstGeom>
          <a:solidFill>
            <a:srgbClr val="EAD9FA"/>
          </a:solidFill>
          <a:ln/>
        </p:spPr>
      </p:sp>
      <p:sp>
        <p:nvSpPr>
          <p:cNvPr id="6" name="Shape 4"/>
          <p:cNvSpPr/>
          <p:nvPr/>
        </p:nvSpPr>
        <p:spPr>
          <a:xfrm>
            <a:off x="5010912" y="2843784"/>
            <a:ext cx="2084832" cy="2084832"/>
          </a:xfrm>
          <a:prstGeom prst="ellipse">
            <a:avLst/>
          </a:prstGeom>
          <a:solidFill>
            <a:srgbClr val="46007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3282696"/>
            <a:ext cx="621792" cy="6217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93208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SMEScope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93208" y="4270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C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engine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60520" y="3036545"/>
            <a:ext cx="679375" cy="0"/>
          </a:xfrm>
          <a:prstGeom prst="line">
            <a:avLst/>
          </a:prstGeom>
          <a:noFill/>
          <a:ln w="15875">
            <a:solidFill>
              <a:srgbClr val="E4DC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47287" y="2743937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500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59" y="2862809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920" y="257934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assessment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2926817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Scope 1·2·3 questions — no carbon expertise needed.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60520" y="3886200"/>
            <a:ext cx="411480" cy="0"/>
          </a:xfrm>
          <a:prstGeom prst="line">
            <a:avLst/>
          </a:prstGeom>
          <a:noFill/>
          <a:ln w="15875">
            <a:solidFill>
              <a:srgbClr val="E4DC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79392" y="359359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500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371246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2920" y="3429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reading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37764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bills and ledgers; the data is extracted automatically.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160520" y="4735855"/>
            <a:ext cx="679375" cy="0"/>
          </a:xfrm>
          <a:prstGeom prst="line">
            <a:avLst/>
          </a:prstGeom>
          <a:noFill/>
          <a:ln w="15875">
            <a:solidFill>
              <a:srgbClr val="E4DC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47287" y="4443247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500C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159" y="4562119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02920" y="427865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calculation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4626127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traceable emission factors behind every number.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266761" y="3036545"/>
            <a:ext cx="688519" cy="0"/>
          </a:xfrm>
          <a:prstGeom prst="line">
            <a:avLst/>
          </a:prstGeom>
          <a:noFill/>
          <a:ln w="15875">
            <a:solidFill>
              <a:srgbClr val="E4DC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974153" y="2743937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500C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025" y="2862809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046720" y="257934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benchmarking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046720" y="2926817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footprint by scope and compare against peers.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534656" y="3886200"/>
            <a:ext cx="420624" cy="0"/>
          </a:xfrm>
          <a:prstGeom prst="line">
            <a:avLst/>
          </a:prstGeom>
          <a:noFill/>
          <a:ln w="15875">
            <a:solidFill>
              <a:srgbClr val="E4DC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242048" y="359359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500C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71246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04672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046720" y="37764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register and per-line Excel, ready to share.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7266761" y="4735855"/>
            <a:ext cx="688519" cy="0"/>
          </a:xfrm>
          <a:prstGeom prst="line">
            <a:avLst/>
          </a:prstGeom>
          <a:noFill/>
          <a:ln w="15875">
            <a:solidFill>
              <a:srgbClr val="E4DCE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974153" y="4443247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9A3A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025" y="4562119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046720" y="427865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upskilling &amp; advisory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8046720" y="4626127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and expert support to act on the results.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8046720" y="5284495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EFE0C2"/>
          </a:solidFill>
          <a:ln w="12700">
            <a:solidFill>
              <a:srgbClr val="C79A3A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046720" y="5284495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add-on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are live and demo-ready; upskilling &amp; advisory are a potential add-on.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IN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60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guided assessment anyone can complete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172200" cy="4980070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  <a:effectLst>
            <a:outerShdw sx="100000" sy="100000" kx="0" ky="0" algn="bl" rotWithShape="0" blurRad="114300" dist="50800" dir="5400000">
              <a:srgbClr val="8A6D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581912"/>
            <a:ext cx="6153912" cy="310896"/>
          </a:xfrm>
          <a:prstGeom prst="rect">
            <a:avLst/>
          </a:prstGeom>
          <a:solidFill>
            <a:srgbClr val="F1EC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82496"/>
            <a:ext cx="100584" cy="100584"/>
          </a:xfrm>
          <a:prstGeom prst="ellipse">
            <a:avLst/>
          </a:prstGeom>
          <a:solidFill>
            <a:srgbClr val="D96A6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82496"/>
            <a:ext cx="100584" cy="100584"/>
          </a:xfrm>
          <a:prstGeom prst="ellipse">
            <a:avLst/>
          </a:prstGeom>
          <a:solidFill>
            <a:srgbClr val="E0B24A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682496"/>
            <a:ext cx="100584" cy="100584"/>
          </a:xfrm>
          <a:prstGeom prst="ellipse">
            <a:avLst/>
          </a:prstGeom>
          <a:solidFill>
            <a:srgbClr val="6FBF73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636776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C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627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smescope.app · guided assessment</a:t>
            </a:r>
            <a:endParaRPr lang="en-US" sz="850" dirty="0"/>
          </a:p>
        </p:txBody>
      </p:sp>
      <p:pic>
        <p:nvPicPr>
          <p:cNvPr id="11" name="Image 0" descr="C:\Users\claudia.daniel\AppData\Local\Temp\claude\C--Users-claudia-daniel\73b728c4-6638-4344-a5ee-72d625deb537\scratchpad\vision\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83664"/>
            <a:ext cx="6025896" cy="459602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64427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shown — Scope 2 and Scope 3 follow the same guided pattern.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86600" y="1874520"/>
            <a:ext cx="457200" cy="457200"/>
          </a:xfrm>
          <a:prstGeom prst="ellipse">
            <a:avLst/>
          </a:prstGeom>
          <a:solidFill>
            <a:srgbClr val="46007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86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08392" y="1819656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guidance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7708392" y="2185416"/>
            <a:ext cx="3995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explains what counts — no GHG jargon or accounting terms.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154680"/>
            <a:ext cx="457200" cy="457200"/>
          </a:xfrm>
          <a:prstGeom prst="ellipse">
            <a:avLst/>
          </a:prstGeom>
          <a:solidFill>
            <a:srgbClr val="46007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866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08392" y="3099816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applies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7708392" y="3465576"/>
            <a:ext cx="3995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questions adapt to the business; the SME skips the rest.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86600" y="4434840"/>
            <a:ext cx="457200" cy="457200"/>
          </a:xfrm>
          <a:prstGeom prst="ellipse">
            <a:avLst/>
          </a:prstGeom>
          <a:solidFill>
            <a:srgbClr val="46007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0866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08392" y="4379976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auto-read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7708392" y="4745736"/>
            <a:ext cx="39959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bills, ledgers or a photo — the AI extracts the data for review.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086600" y="5760720"/>
            <a:ext cx="4617720" cy="640080"/>
          </a:xfrm>
          <a:prstGeom prst="roundRect">
            <a:avLst>
              <a:gd name="adj" fmla="val 12857"/>
            </a:avLst>
          </a:prstGeom>
          <a:solidFill>
            <a:srgbClr val="F4EEF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5200" y="5760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screening-grade Scope 1·2·3 footprint from data the SME already has.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IN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600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3 — only the categories that matter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172200" cy="4757565"/>
          </a:xfrm>
          <a:prstGeom prst="roundRect">
            <a:avLst>
              <a:gd name="adj" fmla="val 1153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  <a:effectLst>
            <a:outerShdw sx="100000" sy="100000" kx="0" ky="0" algn="bl" rotWithShape="0" blurRad="114300" dist="50800" dir="5400000">
              <a:srgbClr val="8A6DB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581912"/>
            <a:ext cx="6153912" cy="310896"/>
          </a:xfrm>
          <a:prstGeom prst="rect">
            <a:avLst/>
          </a:prstGeom>
          <a:solidFill>
            <a:srgbClr val="F1EC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82496"/>
            <a:ext cx="100584" cy="100584"/>
          </a:xfrm>
          <a:prstGeom prst="ellipse">
            <a:avLst/>
          </a:prstGeom>
          <a:solidFill>
            <a:srgbClr val="D96A6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682496"/>
            <a:ext cx="100584" cy="100584"/>
          </a:xfrm>
          <a:prstGeom prst="ellipse">
            <a:avLst/>
          </a:prstGeom>
          <a:solidFill>
            <a:srgbClr val="E0B24A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1682496"/>
            <a:ext cx="100584" cy="100584"/>
          </a:xfrm>
          <a:prstGeom prst="ellipse">
            <a:avLst/>
          </a:prstGeom>
          <a:solidFill>
            <a:srgbClr val="6FBF73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636776"/>
            <a:ext cx="31089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DC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1627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smescope.app · scope 3 relevance</a:t>
            </a:r>
            <a:endParaRPr lang="en-US" sz="850" dirty="0"/>
          </a:p>
        </p:txBody>
      </p:sp>
      <p:pic>
        <p:nvPicPr>
          <p:cNvPr id="11" name="Image 0" descr="C:\Users\claudia.daniel\AppData\Local\Temp\claude\C--Users-claudia-daniel\73b728c4-6638-4344-a5ee-72d625deb537\scratchpad\vision\shot_s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83664"/>
            <a:ext cx="6025896" cy="437351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6421773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categories that rarely apply stay collapsed under “Review other categories”.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86600" y="2286000"/>
            <a:ext cx="457200" cy="457200"/>
          </a:xfrm>
          <a:prstGeom prst="ellipse">
            <a:avLst/>
          </a:prstGeom>
          <a:solidFill>
            <a:srgbClr val="46007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86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708392" y="2194560"/>
            <a:ext cx="3995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where it applies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7708392" y="2743200"/>
            <a:ext cx="3995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 answers just the categories that matter — no trudging through all 15.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840480"/>
            <a:ext cx="457200" cy="457200"/>
          </a:xfrm>
          <a:prstGeom prst="ellipse">
            <a:avLst/>
          </a:prstGeom>
          <a:solidFill>
            <a:srgbClr val="46007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86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08392" y="3749040"/>
            <a:ext cx="3995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Prefiltered per industry / NACE code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7708392" y="4297680"/>
            <a:ext cx="3995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Scope 3 categories are pre-selected from the company’s sector — then reviewed and adjusted.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86600" y="5440680"/>
            <a:ext cx="4617720" cy="640080"/>
          </a:xfrm>
          <a:prstGeom prst="roundRect">
            <a:avLst>
              <a:gd name="adj" fmla="val 12857"/>
            </a:avLst>
          </a:prstGeom>
          <a:solidFill>
            <a:srgbClr val="F4EEF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0" y="5440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</a:t>
            </a:r>
            <a:pPr indent="0" marL="0">
              <a:buNone/>
            </a:pP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relevant categories pre-selected for an office/services SME.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60CF03634DBB4AA52B9D0B1FD736A6" ma:contentTypeVersion="9" ma:contentTypeDescription="Ein neues Dokument erstellen." ma:contentTypeScope="" ma:versionID="c2c9af1c982f08d193e2481aa68d8095">
  <xsd:schema xmlns:xsd="http://www.w3.org/2001/XMLSchema" xmlns:xs="http://www.w3.org/2001/XMLSchema" xmlns:p="http://schemas.microsoft.com/office/2006/metadata/properties" xmlns:ns2="725527a3-61b3-4b50-b4d7-4e9c7efbfc08" targetNamespace="http://schemas.microsoft.com/office/2006/metadata/properties" ma:root="true" ma:fieldsID="c5d061dc815bc335480b7efbed1c7b1a" ns2:_="">
    <xsd:import namespace="725527a3-61b3-4b50-b4d7-4e9c7efbfc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5527a3-61b3-4b50-b4d7-4e9c7efbfc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5527a3-61b3-4b50-b4d7-4e9c7efbfc08" xsi:nil="true"/>
  </documentManagement>
</p:properties>
</file>

<file path=customXml/itemProps1.xml><?xml version="1.0" encoding="utf-8"?>
<ds:datastoreItem xmlns:ds="http://schemas.openxmlformats.org/officeDocument/2006/customXml" ds:itemID="{4EFBA725-E6DF-4D6C-9EAE-B0FEF7009F09}"/>
</file>

<file path=customXml/itemProps2.xml><?xml version="1.0" encoding="utf-8"?>
<ds:datastoreItem xmlns:ds="http://schemas.openxmlformats.org/officeDocument/2006/customXml" ds:itemID="{E538F222-801B-4124-92D8-043C1EA0432D}"/>
</file>

<file path=customXml/itemProps3.xml><?xml version="1.0" encoding="utf-8"?>
<ds:datastoreItem xmlns:ds="http://schemas.openxmlformats.org/officeDocument/2006/customXml" ds:itemID="{BD9E8BF1-8A14-44BD-B888-D00FC493F01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SMEScope</dc:title>
  <dc:subject>PptxGenJS Presentation</dc:subject>
  <dc:creator>PptxGenJS</dc:creator>
  <cp:lastModifiedBy>PptxGenJS</cp:lastModifiedBy>
  <cp:revision>1</cp:revision>
  <dcterms:created xsi:type="dcterms:W3CDTF">2026-09-28T15:39:45Z</dcterms:created>
  <dcterms:modified xsi:type="dcterms:W3CDTF">2026-09-28T15:39:45Z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0x0101008360CF03634DBB4AA52B9D0B1FD736A6</vt:lpwstr>
  </property>
</Properties>
</file>