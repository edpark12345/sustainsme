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840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SMEScope</a:t>
            </a:r>
            <a:pPr indent="0" marL="0">
              <a:buNone/>
            </a:pPr>
            <a:r>
              <a:rPr lang="en-US" sz="2000" b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SustainSME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2412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Screening-grade SME carbon footprinting — a first-pass Scope 1·2·3 estimate from the documents SMEs already have.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4572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 </a:t>
            </a:r>
            <a:pPr algn="r" indent="0" marL="0">
              <a:buNone/>
            </a:pPr>
            <a:r>
              <a:rPr lang="en-US" sz="11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Claudia Daniel &amp; Priyank Jain</a:t>
            </a:r>
            <a:pPr algn="r" indent="0" marL="0">
              <a:buNone/>
            </a:pPr>
            <a:r>
              <a:rPr lang="en-US" sz="11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Status  </a:t>
            </a:r>
            <a:pPr algn="r" indent="0" marL="0">
              <a:buNone/>
            </a:pPr>
            <a:r>
              <a:rPr lang="en-US" sz="11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Screening-grade prototype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75688"/>
            <a:ext cx="2331720" cy="1691640"/>
          </a:xfrm>
          <a:prstGeom prst="roundRect">
            <a:avLst>
              <a:gd name="adj" fmla="val 4865"/>
            </a:avLst>
          </a:prstGeom>
          <a:solidFill>
            <a:srgbClr val="F4EEFB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2295144"/>
            <a:ext cx="457200" cy="457200"/>
          </a:xfrm>
          <a:prstGeom prst="ellipse">
            <a:avLst/>
          </a:prstGeom>
          <a:solidFill>
            <a:srgbClr val="A100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4088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52728" y="22951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22376" y="2862072"/>
            <a:ext cx="191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bills, fuel logs, refrigerant register &amp; spend ledgers.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807208" y="2075688"/>
            <a:ext cx="219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99232" y="2075688"/>
            <a:ext cx="2331720" cy="1691640"/>
          </a:xfrm>
          <a:prstGeom prst="roundRect">
            <a:avLst>
              <a:gd name="adj" fmla="val 4865"/>
            </a:avLst>
          </a:prstGeom>
          <a:solidFill>
            <a:srgbClr val="F4EEFB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295144"/>
            <a:ext cx="457200" cy="457200"/>
          </a:xfrm>
          <a:prstGeom prst="ellipse">
            <a:avLst/>
          </a:prstGeom>
          <a:solidFill>
            <a:srgbClr val="A100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00400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2951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218688" y="2862072"/>
            <a:ext cx="191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each file into structured activity data — source &amp; confidence per line.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075688"/>
            <a:ext cx="2194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95544" y="2075688"/>
            <a:ext cx="2331720" cy="1691640"/>
          </a:xfrm>
          <a:prstGeom prst="roundRect">
            <a:avLst>
              <a:gd name="adj" fmla="val 4865"/>
            </a:avLst>
          </a:prstGeom>
          <a:solidFill>
            <a:srgbClr val="F4EEFB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96712" y="2295144"/>
            <a:ext cx="457200" cy="457200"/>
          </a:xfrm>
          <a:prstGeom prst="ellipse">
            <a:avLst/>
          </a:prstGeom>
          <a:solidFill>
            <a:srgbClr val="A100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96712" y="2295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245352" y="22951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2862072"/>
            <a:ext cx="191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 applies a traceable factor library; the LLM never does the maths.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4087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COVERS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4453128"/>
            <a:ext cx="736092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617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</a:t>
            </a:r>
            <a:pPr indent="0" marL="0"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combustion, fleet &amp; refrigerants     </a:t>
            </a:r>
            <a:pPr indent="0" marL="0">
              <a:buNone/>
            </a:pPr>
            <a:r>
              <a:rPr lang="en-US" sz="13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</a:t>
            </a:r>
            <a:pPr indent="0" marL="0"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electricity &amp; heat (location + market)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02005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— computed  </a:t>
            </a:r>
            <a:pPr indent="0" marL="0">
              <a:buNone/>
            </a:pPr>
            <a:r>
              <a:rPr lang="en-US" sz="12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cats 1, 2, 3, 4, 5, 6, 7 &amp; 9 (spend, fuel/energy upstream, travel, commuting, waste, logistics).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56869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out of scope  </a:t>
            </a:r>
            <a:pPr indent="0" marL="0">
              <a:buNone/>
            </a:pPr>
            <a:r>
              <a:rPr lang="en-US" sz="120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cats 8 &amp; 10–15 — upstream/downstream leased assets, processing, use &amp; end-of-life of sold products, franchises, investments.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0" y="1691640"/>
            <a:ext cx="3456432" cy="2697480"/>
          </a:xfrm>
          <a:prstGeom prst="roundRect">
            <a:avLst>
              <a:gd name="adj" fmla="val 3390"/>
            </a:avLst>
          </a:prstGeom>
          <a:solidFill>
            <a:srgbClr val="46007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85632" y="1892808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· LEGAL SME, FY2024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8485632" y="2258568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487</a:t>
            </a:r>
            <a:pPr indent="0" marL="0">
              <a:buNone/>
            </a:pPr>
            <a:r>
              <a:rPr lang="en-US" sz="1600" b="1" dirty="0">
                <a:solidFill>
                  <a:srgbClr val="C9A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tCO₂e</a:t>
            </a:r>
            <a:endParaRPr lang="en-US" sz="4800" dirty="0"/>
          </a:p>
        </p:txBody>
      </p:sp>
      <p:sp>
        <p:nvSpPr>
          <p:cNvPr id="31" name="Text 29"/>
          <p:cNvSpPr txBox="1"/>
          <p:nvPr/>
        </p:nvSpPr>
        <p:spPr>
          <a:xfrm>
            <a:off x="8485632" y="289864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C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gross emissions (location-based)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485632" y="329184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10268712" y="32918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tCO₂e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485632" y="36301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2 (location)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0268712" y="36301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tCO₂e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485632" y="396849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D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10268712" y="39684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359 tCO₂e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466344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229600" y="5029200"/>
            <a:ext cx="3456432" cy="1280160"/>
          </a:xfrm>
          <a:prstGeom prst="roundRect">
            <a:avLst>
              <a:gd name="adj" fmla="val 6429"/>
            </a:avLst>
          </a:prstGeom>
          <a:solidFill>
            <a:srgbClr val="F4EEFB"/>
          </a:solidFill>
          <a:ln w="12700">
            <a:solidFill>
              <a:srgbClr val="E4DCE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458200" y="5166360"/>
            <a:ext cx="2999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channels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BBVA &amp; Santander — SME decarbonization at scale.
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an SBTi SaaS offering.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02920" y="6419088"/>
            <a:ext cx="11185855" cy="0"/>
          </a:xfrm>
          <a:prstGeom prst="line">
            <a:avLst/>
          </a:prstGeom>
          <a:noFill/>
          <a:ln w="12700">
            <a:solidFill>
              <a:srgbClr val="E4DCE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02920" y="64739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&amp; screening-grade — not audited or assured.</a:t>
            </a:r>
            <a:pPr indent="0" marL="0">
              <a:buNone/>
            </a:pPr>
            <a:r>
              <a:rPr lang="en-US" sz="1050" dirty="0">
                <a:solidFill>
                  <a:srgbClr val="6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LLM extracts · deterministic Python calculates · per-line Excel + emission-factor register (DEFRA 2024).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229600" y="64739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60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further developed by Sylvia &amp; team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60CF03634DBB4AA52B9D0B1FD736A6" ma:contentTypeVersion="9" ma:contentTypeDescription="Ein neues Dokument erstellen." ma:contentTypeScope="" ma:versionID="c2c9af1c982f08d193e2481aa68d8095">
  <xsd:schema xmlns:xsd="http://www.w3.org/2001/XMLSchema" xmlns:xs="http://www.w3.org/2001/XMLSchema" xmlns:p="http://schemas.microsoft.com/office/2006/metadata/properties" xmlns:ns2="725527a3-61b3-4b50-b4d7-4e9c7efbfc08" targetNamespace="http://schemas.microsoft.com/office/2006/metadata/properties" ma:root="true" ma:fieldsID="c5d061dc815bc335480b7efbed1c7b1a" ns2:_="">
    <xsd:import namespace="725527a3-61b3-4b50-b4d7-4e9c7efbfc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5527a3-61b3-4b50-b4d7-4e9c7efbfc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5527a3-61b3-4b50-b4d7-4e9c7efbfc08" xsi:nil="true"/>
  </documentManagement>
</p:properties>
</file>

<file path=customXml/itemProps1.xml><?xml version="1.0" encoding="utf-8"?>
<ds:datastoreItem xmlns:ds="http://schemas.openxmlformats.org/officeDocument/2006/customXml" ds:itemID="{620580E7-AD7B-4FA7-9C26-E3350C84E1C8}"/>
</file>

<file path=customXml/itemProps2.xml><?xml version="1.0" encoding="utf-8"?>
<ds:datastoreItem xmlns:ds="http://schemas.openxmlformats.org/officeDocument/2006/customXml" ds:itemID="{87895267-D394-46E1-A6A2-E79439EB929B}"/>
</file>

<file path=customXml/itemProps3.xml><?xml version="1.0" encoding="utf-8"?>
<ds:datastoreItem xmlns:ds="http://schemas.openxmlformats.org/officeDocument/2006/customXml" ds:itemID="{2C06DFAA-9293-4000-947C-336A1E6C392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2026-08-27T13:19:19Z</dcterms:created>
  <dcterms:modified xsi:type="dcterms:W3CDTF">2026-08-27T13:19:19Z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0x0101008360CF03634DBB4AA52B9D0B1FD736A6</vt:lpwstr>
  </property>
</Properties>
</file>